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4"/>
  </p:sldMasterIdLst>
  <p:notesMasterIdLst>
    <p:notesMasterId r:id="rId16"/>
  </p:notesMasterIdLst>
  <p:sldIdLst>
    <p:sldId id="256" r:id="rId5"/>
    <p:sldId id="1249" r:id="rId6"/>
    <p:sldId id="1085" r:id="rId7"/>
    <p:sldId id="352" r:id="rId8"/>
    <p:sldId id="1259" r:id="rId9"/>
    <p:sldId id="1258" r:id="rId10"/>
    <p:sldId id="1260" r:id="rId11"/>
    <p:sldId id="1261" r:id="rId12"/>
    <p:sldId id="1262" r:id="rId13"/>
    <p:sldId id="1263" r:id="rId14"/>
    <p:sldId id="1255" r:id="rId15"/>
  </p:sldIdLst>
  <p:sldSz cx="12192000" cy="6858000"/>
  <p:notesSz cx="6858000" cy="9144000"/>
  <p:custDataLst>
    <p:tags r:id="rId1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84" userDrawn="1">
          <p15:clr>
            <a:srgbClr val="A4A3A4"/>
          </p15:clr>
        </p15:guide>
        <p15:guide id="2" pos="192" userDrawn="1">
          <p15:clr>
            <a:srgbClr val="A4A3A4"/>
          </p15:clr>
        </p15:guide>
        <p15:guide id="3" orient="horz" pos="1080" userDrawn="1">
          <p15:clr>
            <a:srgbClr val="A4A3A4"/>
          </p15:clr>
        </p15:guide>
        <p15:guide id="4" orient="horz" pos="2160" userDrawn="1">
          <p15:clr>
            <a:srgbClr val="A4A3A4"/>
          </p15:clr>
        </p15:guide>
        <p15:guide id="5" orient="horz" pos="4032" userDrawn="1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E3FF"/>
    <a:srgbClr val="FFE500"/>
    <a:srgbClr val="B9D0FF"/>
    <a:srgbClr val="034977"/>
    <a:srgbClr val="023558"/>
    <a:srgbClr val="045890"/>
    <a:srgbClr val="0000FF"/>
    <a:srgbClr val="EDE2EE"/>
    <a:srgbClr val="1B35B5"/>
    <a:srgbClr val="667C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F10D80-9AB9-4B6B-83DA-C5DBCAD55EBB}" v="3" dt="2025-11-17T08:49:24.7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97" autoAdjust="0"/>
  </p:normalViewPr>
  <p:slideViewPr>
    <p:cSldViewPr snapToGrid="0">
      <p:cViewPr varScale="1">
        <p:scale>
          <a:sx n="82" d="100"/>
          <a:sy n="82" d="100"/>
        </p:scale>
        <p:origin x="691" y="91"/>
      </p:cViewPr>
      <p:guideLst>
        <p:guide orient="horz" pos="784"/>
        <p:guide pos="192"/>
        <p:guide orient="horz" pos="1080"/>
        <p:guide orient="horz" pos="2160"/>
        <p:guide orient="horz"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22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2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20" Type="http://customschemas.google.com/relationships/presentationmetadata" Target="metadata"/><Relationship Id="rId22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22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 algn="l" rtl="0" fontAlgn="base">
              <a:buNone/>
            </a:pPr>
            <a:r>
              <a:rPr lang="en-IN" b="1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Speaker would be briefing the students that this content has been prepared for the educational purpose only and is referred from multiple sites which are cited in the last.</a:t>
            </a:r>
            <a:r>
              <a:rPr lang="en-IN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158750" indent="0" algn="l" rtl="0" fontAlgn="base">
              <a:buNone/>
            </a:pPr>
            <a:r>
              <a:rPr lang="en-IN" b="1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---------------------------------------------------</a:t>
            </a:r>
            <a:r>
              <a:rPr lang="en-US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158750" indent="0" algn="l" rtl="0" fontAlgn="base">
              <a:buNone/>
            </a:pPr>
            <a:r>
              <a:rPr lang="en-IN" b="1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A disclaimer is a statement or notice that is intended to clarify, limit, or provide information about the scope, limitations, or potential risks associated with certain actions, information, products, services, or content. </a:t>
            </a:r>
            <a:r>
              <a:rPr lang="en-US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158750" indent="0" algn="l" rtl="0" fontAlgn="base">
              <a:buNone/>
            </a:pPr>
            <a:r>
              <a:rPr lang="en-US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158750" indent="0" algn="l" rtl="0" fontAlgn="base">
              <a:buNone/>
            </a:pPr>
            <a:r>
              <a:rPr lang="en-US" b="0" i="0">
                <a:solidFill>
                  <a:srgbClr val="444444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​</a:t>
            </a:r>
            <a:endParaRPr lang="en-US" b="0" i="0">
              <a:solidFill>
                <a:srgbClr val="444444"/>
              </a:solidFill>
              <a:effectLst/>
              <a:highlight>
                <a:srgbClr val="F5F5F5"/>
              </a:highlight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sz="1100" b="1" spc="-5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307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sz="1800" b="1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 this slide speaker will be introducing </a:t>
            </a:r>
            <a:r>
              <a:rPr lang="en-US" sz="1800" b="1">
                <a:effectLst/>
                <a:latin typeface="Arial" panose="020B0604020202020204" pitchFamily="34" charset="0"/>
                <a:ea typeface="Arial MT"/>
              </a:rPr>
              <a:t>the</a:t>
            </a:r>
            <a:r>
              <a:rPr lang="en-US" sz="1800" b="1" spc="-10">
                <a:effectLst/>
                <a:latin typeface="Arial" panose="020B0604020202020204" pitchFamily="34" charset="0"/>
                <a:ea typeface="Arial MT"/>
              </a:rPr>
              <a:t> </a:t>
            </a:r>
            <a:r>
              <a:rPr lang="en-US" sz="1800" b="1">
                <a:effectLst/>
                <a:latin typeface="Arial" panose="020B0604020202020204" pitchFamily="34" charset="0"/>
                <a:ea typeface="Arial MT"/>
              </a:rPr>
              <a:t>program</a:t>
            </a:r>
            <a:r>
              <a:rPr lang="en-US" sz="1800" b="1" spc="-10">
                <a:effectLst/>
                <a:latin typeface="Arial" panose="020B0604020202020204" pitchFamily="34" charset="0"/>
                <a:ea typeface="Arial MT"/>
              </a:rPr>
              <a:t> </a:t>
            </a:r>
            <a:r>
              <a:rPr lang="en-US" sz="1800" b="1">
                <a:effectLst/>
                <a:latin typeface="Arial" panose="020B0604020202020204" pitchFamily="34" charset="0"/>
                <a:ea typeface="Arial MT"/>
              </a:rPr>
              <a:t>and</a:t>
            </a:r>
            <a:r>
              <a:rPr lang="en-US" sz="1800" b="1" spc="-5">
                <a:effectLst/>
                <a:latin typeface="Arial" panose="020B0604020202020204" pitchFamily="34" charset="0"/>
                <a:ea typeface="Arial MT"/>
              </a:rPr>
              <a:t> </a:t>
            </a:r>
            <a:r>
              <a:rPr lang="en-US" sz="1800" b="1">
                <a:effectLst/>
                <a:latin typeface="Arial" panose="020B0604020202020204" pitchFamily="34" charset="0"/>
                <a:ea typeface="Arial MT"/>
              </a:rPr>
              <a:t>its</a:t>
            </a:r>
            <a:r>
              <a:rPr lang="en-US" sz="1800" b="1" spc="-5">
                <a:effectLst/>
                <a:latin typeface="Arial" panose="020B0604020202020204" pitchFamily="34" charset="0"/>
                <a:ea typeface="Arial MT"/>
              </a:rPr>
              <a:t> </a:t>
            </a:r>
            <a:r>
              <a:rPr lang="en-US" sz="1800" b="1">
                <a:effectLst/>
                <a:latin typeface="Arial" panose="020B0604020202020204" pitchFamily="34" charset="0"/>
                <a:ea typeface="Arial MT"/>
              </a:rPr>
              <a:t>outcomes.  The speaker will introduce himself in brief</a:t>
            </a:r>
            <a:endParaRPr lang="en-US" b="1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3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1871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/>
              <a:t>This slide, The speaker will talk about the content that we will be covering in this session as follows: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b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of UI/UX in industry</a:t>
            </a:r>
            <a:endParaRPr lang="en-IN" sz="1800" b="0" i="0" u="none" strike="noStrike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History and Definitions of UI and 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Key Differences between UI/UX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Significance in Web Development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Visual Design Principles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Design process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Color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theory and psychology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Typography and readability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Layout and Spacing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Responsive design basics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and Accessibility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Aspects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Web Content Accessibility Guidelines (WCAG)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Inclusive design practices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Consistency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Experience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User-</a:t>
            </a: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Centered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Design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research methods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Interactive Elements and Feedback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Mini Case Study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Discussing a popular UI/UX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Hands-On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 to Figma for UI/UX design</a:t>
            </a:r>
            <a:endParaRPr lang="en-IN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1168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1E55B221-6FA1-3BE9-E5F3-B03E2D23C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D35D408E-BF78-D56C-888A-658B09506F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/>
              <a:t>This slide, The speaker will talk about the content that we will be covering in this session as follows: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b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of UI/UX in industry</a:t>
            </a:r>
            <a:endParaRPr lang="en-IN" sz="1800" b="0" i="0" u="none" strike="noStrike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History and Definitions of UI and 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Key Differences between UI/UX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Significance in Web Development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Visual Design Principles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Design process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Color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theory and psychology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Typography and readability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Layout and Spacing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Responsive design basics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and Accessibility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Aspects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Web Content Accessibility Guidelines (WCAG)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Inclusive design practices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Consistency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Experience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User-</a:t>
            </a: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Centered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Design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research methods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Interactive Elements and Feedback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Mini Case Study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Discussing a popular UI/UX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Hands-On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 to Figma for UI/UX design</a:t>
            </a:r>
            <a:endParaRPr lang="en-IN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E2A32248-DEE0-0B39-C05A-0DF88DA2B2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68354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F725A2FE-ED01-0B04-3A9B-A67327D56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72C105C3-CD69-D4B8-0D30-F87B01478A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/>
              <a:t>This slide, The speaker will talk about the content that we will be covering in this session as follows: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b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of UI/UX in industry</a:t>
            </a:r>
            <a:endParaRPr lang="en-IN" sz="1800" b="0" i="0" u="none" strike="noStrike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History and Definitions of UI and 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Key Differences between UI/UX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Significance in Web Development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Visual Design Principles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Design process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Color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theory and psychology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Typography and readability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Layout and Spacing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Responsive design basics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and Accessibility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Aspects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Web Content Accessibility Guidelines (WCAG)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Inclusive design practices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Consistency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Experience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User-</a:t>
            </a: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Centered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Design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research methods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Interactive Elements and Feedback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Mini Case Study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Discussing a popular UI/UX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Hands-On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 to Figma for UI/UX design</a:t>
            </a:r>
            <a:endParaRPr lang="en-IN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99D2F34F-E57D-0ADC-800D-94993AD860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2250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383675E-53B9-2EDB-5325-93E5CF581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0E30BF86-8B14-A96A-682C-24BA50FF62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/>
              <a:t>This slide, The speaker will talk about the content that we will be covering in this session as follows: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b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of UI/UX in industry</a:t>
            </a:r>
            <a:endParaRPr lang="en-IN" sz="1800" b="0" i="0" u="none" strike="noStrike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History and Definitions of UI and 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Key Differences between UI/UX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Significance in Web Development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Visual Design Principles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Design process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Color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theory and psychology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Typography and readability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Layout and Spacing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Responsive design basics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and Accessibility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Aspects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Web Content Accessibility Guidelines (WCAG)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Inclusive design practices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Consistency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Experience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User-</a:t>
            </a: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Centered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Design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research methods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Interactive Elements and Feedback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Mini Case Study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Discussing a popular UI/UX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Hands-On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 to Figma for UI/UX design</a:t>
            </a:r>
            <a:endParaRPr lang="en-IN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DCE68E7D-136F-980C-543E-B0A502FB51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69307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185E30A0-9F54-6FE1-8312-86AFC3F5A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C992B373-F314-1AF9-E8FB-8BC3EC4BC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/>
              <a:t>This slide, The speaker will talk about the content that we will be covering in this session as follows: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b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of UI/UX in industry</a:t>
            </a:r>
            <a:endParaRPr lang="en-IN" sz="1800" b="0" i="0" u="none" strike="noStrike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History and Definitions of UI and 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Key Differences between UI/UX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Significance in Web Development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Visual Design Principles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Design process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Color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theory and psychology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Typography and readability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Layout and Spacing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Responsive design basics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and Accessibility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Aspects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Web Content Accessibility Guidelines (WCAG)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Inclusive design practices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Consistency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Experience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User-</a:t>
            </a: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Centered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Design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research methods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Interactive Elements and Feedback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Mini Case Study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Discussing a popular UI/UX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Hands-On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 to Figma for UI/UX design</a:t>
            </a:r>
            <a:endParaRPr lang="en-IN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45A07529-30B2-11E8-B926-D76501EBB9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638783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1D4D10D6-8694-4EAA-AFFE-965F3A148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42970764-DFCC-8118-0BA9-7C253EF20B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/>
              <a:t>This slide, The speaker will talk about the content that we will be covering in this session as follows: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b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of UI/UX in industry</a:t>
            </a:r>
            <a:endParaRPr lang="en-IN" sz="1800" b="0" i="0" u="none" strike="noStrike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History and Definitions of UI and 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Key Differences between UI/UX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Significance in Web Development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Visual Design Principles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Design process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Color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theory and psychology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Typography and readability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Layout and Spacing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Responsive design basics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and Accessibility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Aspects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Web Content Accessibility Guidelines (WCAG)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Inclusive design practices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Consistency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Experience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User-</a:t>
            </a: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Centered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Design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research methods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Interactive Elements and Feedback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Mini Case Study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Discussing a popular UI/UX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Hands-On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 to Figma for UI/UX design</a:t>
            </a:r>
            <a:endParaRPr lang="en-IN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5D2068EB-3D46-10D6-7BE4-C10CF829FF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632631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64AE78F-CAAA-9411-1C07-5897A0A9E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5C1206B5-46EB-BA96-8537-3D54B46B92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/>
              <a:t>This slide, The speaker will talk about the content that we will be covering in this session as follows: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b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of UI/UX in industry</a:t>
            </a:r>
            <a:endParaRPr lang="en-IN" sz="1800" b="0" i="0" u="none" strike="noStrike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History and Definitions of UI and 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Key Differences between UI/UX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Significance in Web Development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Visual Design Principles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Design process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Color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theory and psychology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Typography and readability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Layout and Spacing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Responsive design basics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and Accessibility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Aspects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Web Content Accessibility Guidelines (WCAG)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Inclusive design practices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Consistency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Experience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User-</a:t>
            </a: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Centered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Design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research methods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Interactive Elements and Feedback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Mini Case Study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Discussing a popular UI/UX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Hands-On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 to Figma for UI/UX design</a:t>
            </a:r>
            <a:endParaRPr lang="en-IN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6691272B-1AE2-4BF2-BE50-7736F7A129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621787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889DB2EC-5E59-1C9C-B257-47839B4EF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521CF6DE-F83D-DF02-0EA6-49693349CB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b="1"/>
              <a:t>This slide, The speaker will talk about the content that we will be covering in this session as follows: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 b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 of UI/UX in industry</a:t>
            </a:r>
            <a:endParaRPr lang="en-IN" sz="1800" b="0" i="0" u="none" strike="noStrike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History and Definitions of UI and 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Key Differences between UI/UX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Significance in Web Development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 Cases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Visual Design Principles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Design process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Color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theory and psychology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Typography and readability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Layout and Spacing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Responsive design basics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and Accessibility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Usability Aspects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Web Content Accessibility Guidelines (WCAG)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Inclusive design practices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Consistency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Experience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User-</a:t>
            </a:r>
            <a:r>
              <a:rPr lang="en-IN" sz="1800" b="0" i="0" u="none" strike="noStrike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Centered</a:t>
            </a: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Design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User research methods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Interactive Elements and Feedback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Mini Case Study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Discussing a popular UI/UX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IN" sz="1800" b="1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Hands-On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IN" sz="1800" b="0" i="0" u="none" strike="noStrike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Introduction to Figma for UI/UX design</a:t>
            </a:r>
            <a:endParaRPr lang="en-IN"/>
          </a:p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8D50153A-7825-FF11-BF01-858C984731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0307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47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297814" y="126596"/>
            <a:ext cx="1748776" cy="584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black background with a red and blue line&#10;&#10;Description automatically generated">
            <a:extLst>
              <a:ext uri="{FF2B5EF4-FFF2-40B4-BE49-F238E27FC236}">
                <a16:creationId xmlns:a16="http://schemas.microsoft.com/office/drawing/2014/main" id="{9CA50098-7D03-1836-41AA-E168C007D2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82037" b="14815"/>
          <a:stretch/>
        </p:blipFill>
        <p:spPr>
          <a:xfrm>
            <a:off x="0" y="6743065"/>
            <a:ext cx="12192000" cy="1377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31AFEAB-13E2-B4AA-FD33-8FE461808EF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0464800" cy="666750"/>
          </a:xfrm>
          <a:prstGeom prst="rect">
            <a:avLst/>
          </a:prstGeom>
        </p:spPr>
      </p:pic>
      <p:pic>
        <p:nvPicPr>
          <p:cNvPr id="20" name="Picture 19" descr="A black screen with red and blue stripes&#10;&#10;Description automatically generated">
            <a:extLst>
              <a:ext uri="{FF2B5EF4-FFF2-40B4-BE49-F238E27FC236}">
                <a16:creationId xmlns:a16="http://schemas.microsoft.com/office/drawing/2014/main" id="{11971837-D8B7-1C36-5140-3CE05FA77F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/>
          <a:srcRect t="94963"/>
          <a:stretch/>
        </p:blipFill>
        <p:spPr>
          <a:xfrm>
            <a:off x="0" y="6522720"/>
            <a:ext cx="12192000" cy="34544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14" r:id="rId2"/>
    <p:sldLayoutId id="2147483728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chatgpt.google.com/" TargetMode="External"/><Relationship Id="rId3" Type="http://schemas.openxmlformats.org/officeDocument/2006/relationships/notesSlide" Target="../notesSlides/notesSlide10.xml"/><Relationship Id="rId7" Type="http://schemas.openxmlformats.org/officeDocument/2006/relationships/hyperlink" Target="https://antigravity.google/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hyperlink" Target="https://www.python.org/" TargetMode="External"/><Relationship Id="rId5" Type="http://schemas.openxmlformats.org/officeDocument/2006/relationships/hyperlink" Target="https://docs.djangoproject.com/en/6.0/" TargetMode="External"/><Relationship Id="rId4" Type="http://schemas.openxmlformats.org/officeDocument/2006/relationships/hyperlink" Target="https://socket.io/docs/v4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19707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IN" sz="1245"/>
          </a:p>
        </p:txBody>
      </p:sp>
      <p:sp>
        <p:nvSpPr>
          <p:cNvPr id="3" name="Freeform 3"/>
          <p:cNvSpPr/>
          <p:nvPr/>
        </p:nvSpPr>
        <p:spPr>
          <a:xfrm>
            <a:off x="0" y="6660927"/>
            <a:ext cx="12192001" cy="197073"/>
          </a:xfrm>
          <a:custGeom>
            <a:avLst/>
            <a:gdLst/>
            <a:ahLst/>
            <a:cxnLst/>
            <a:rect l="l" t="t" r="r" b="b"/>
            <a:pathLst>
              <a:path w="17979397" h="921444">
                <a:moveTo>
                  <a:pt x="0" y="0"/>
                </a:moveTo>
                <a:lnTo>
                  <a:pt x="17979397" y="0"/>
                </a:lnTo>
                <a:lnTo>
                  <a:pt x="17979397" y="921444"/>
                </a:lnTo>
                <a:lnTo>
                  <a:pt x="0" y="9214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45"/>
          </a:p>
        </p:txBody>
      </p:sp>
      <p:sp>
        <p:nvSpPr>
          <p:cNvPr id="4" name="Freeform 4"/>
          <p:cNvSpPr/>
          <p:nvPr/>
        </p:nvSpPr>
        <p:spPr>
          <a:xfrm flipV="1">
            <a:off x="0" y="4401147"/>
            <a:ext cx="2529579" cy="2456853"/>
          </a:xfrm>
          <a:custGeom>
            <a:avLst/>
            <a:gdLst/>
            <a:ahLst/>
            <a:cxnLst/>
            <a:rect l="l" t="t" r="r" b="b"/>
            <a:pathLst>
              <a:path w="3794368" h="3685280">
                <a:moveTo>
                  <a:pt x="0" y="3685280"/>
                </a:moveTo>
                <a:lnTo>
                  <a:pt x="3794368" y="3685280"/>
                </a:lnTo>
                <a:lnTo>
                  <a:pt x="3794368" y="0"/>
                </a:lnTo>
                <a:lnTo>
                  <a:pt x="0" y="0"/>
                </a:lnTo>
                <a:lnTo>
                  <a:pt x="0" y="368528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45"/>
          </a:p>
        </p:txBody>
      </p:sp>
      <p:sp>
        <p:nvSpPr>
          <p:cNvPr id="5" name="Freeform 5"/>
          <p:cNvSpPr/>
          <p:nvPr/>
        </p:nvSpPr>
        <p:spPr>
          <a:xfrm flipH="1">
            <a:off x="5301756" y="0"/>
            <a:ext cx="6890244" cy="6692149"/>
          </a:xfrm>
          <a:custGeom>
            <a:avLst/>
            <a:gdLst/>
            <a:ahLst/>
            <a:cxnLst/>
            <a:rect l="l" t="t" r="r" b="b"/>
            <a:pathLst>
              <a:path w="10335366" h="10038224">
                <a:moveTo>
                  <a:pt x="10335366" y="0"/>
                </a:moveTo>
                <a:lnTo>
                  <a:pt x="0" y="0"/>
                </a:lnTo>
                <a:lnTo>
                  <a:pt x="0" y="10038224"/>
                </a:lnTo>
                <a:lnTo>
                  <a:pt x="10335366" y="10038224"/>
                </a:lnTo>
                <a:lnTo>
                  <a:pt x="10335366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45"/>
          </a:p>
        </p:txBody>
      </p:sp>
      <p:grpSp>
        <p:nvGrpSpPr>
          <p:cNvPr id="6" name="Group 6"/>
          <p:cNvGrpSpPr/>
          <p:nvPr/>
        </p:nvGrpSpPr>
        <p:grpSpPr>
          <a:xfrm>
            <a:off x="6007852" y="391844"/>
            <a:ext cx="6074313" cy="6074312"/>
            <a:chOff x="-188667" y="-69445"/>
            <a:chExt cx="1507375" cy="1507374"/>
          </a:xfrm>
        </p:grpSpPr>
        <p:sp>
          <p:nvSpPr>
            <p:cNvPr id="7" name="Freeform 7"/>
            <p:cNvSpPr/>
            <p:nvPr/>
          </p:nvSpPr>
          <p:spPr>
            <a:xfrm>
              <a:off x="-188667" y="-69445"/>
              <a:ext cx="1507375" cy="1507374"/>
            </a:xfrm>
            <a:prstGeom prst="ellipse">
              <a:avLst/>
            </a:prstGeom>
            <a:blipFill>
              <a:blip r:embed="rId5"/>
              <a:srcRect/>
              <a:stretch>
                <a:fillRect l="-78487" t="-9550" b="-9550"/>
              </a:stretch>
            </a:blipFill>
          </p:spPr>
          <p:txBody>
            <a:bodyPr/>
            <a:lstStyle/>
            <a:p>
              <a:endParaRPr lang="en-IN" sz="1245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CFAFDC7-5FD4-AA0C-2C85-1B59ED6CD792}"/>
              </a:ext>
            </a:extLst>
          </p:cNvPr>
          <p:cNvSpPr txBox="1"/>
          <p:nvPr/>
        </p:nvSpPr>
        <p:spPr>
          <a:xfrm>
            <a:off x="358892" y="2584502"/>
            <a:ext cx="5648959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600" b="1" dirty="0">
                <a:solidFill>
                  <a:srgbClr val="023558"/>
                </a:solidFill>
                <a:latin typeface="+mj-lt"/>
              </a:rPr>
              <a:t>Full Stack Web Development with AI Tools</a:t>
            </a:r>
            <a:endParaRPr lang="en-US" sz="3600" b="1" dirty="0">
              <a:solidFill>
                <a:srgbClr val="023558"/>
              </a:solidFill>
            </a:endParaRPr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54F00DD0-EB7B-EBC0-7FBE-8E865107AF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861" y="388408"/>
            <a:ext cx="1926070" cy="6264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B315E8-A49C-3C13-082D-0A9135A687F9}"/>
              </a:ext>
            </a:extLst>
          </p:cNvPr>
          <p:cNvSpPr txBox="1"/>
          <p:nvPr/>
        </p:nvSpPr>
        <p:spPr>
          <a:xfrm>
            <a:off x="1046664" y="4519689"/>
            <a:ext cx="427341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600" b="1" i="1" dirty="0">
                <a:solidFill>
                  <a:srgbClr val="023558"/>
                </a:solidFill>
              </a:rPr>
              <a:t>Team Details – NG_CP_Team_1794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310590-615E-A8EC-A0AB-F60F9F138367}"/>
              </a:ext>
            </a:extLst>
          </p:cNvPr>
          <p:cNvSpPr txBox="1"/>
          <p:nvPr/>
        </p:nvSpPr>
        <p:spPr>
          <a:xfrm>
            <a:off x="2118793" y="4858243"/>
            <a:ext cx="3779223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i="1" dirty="0">
                <a:solidFill>
                  <a:srgbClr val="023558"/>
                </a:solidFill>
              </a:rPr>
              <a:t>Name: Konatham Manasa</a:t>
            </a:r>
          </a:p>
          <a:p>
            <a:r>
              <a:rPr lang="en-US" sz="1400" i="1" dirty="0">
                <a:solidFill>
                  <a:srgbClr val="023558"/>
                </a:solidFill>
              </a:rPr>
              <a:t>Name: Vinaya </a:t>
            </a:r>
            <a:r>
              <a:rPr lang="en-US" sz="1400" i="1" dirty="0" err="1">
                <a:solidFill>
                  <a:srgbClr val="023558"/>
                </a:solidFill>
              </a:rPr>
              <a:t>Manthalker</a:t>
            </a:r>
            <a:endParaRPr lang="en-US" sz="1400" i="1" dirty="0">
              <a:solidFill>
                <a:srgbClr val="023558"/>
              </a:solidFill>
            </a:endParaRPr>
          </a:p>
          <a:p>
            <a:r>
              <a:rPr lang="en-US" sz="1400" i="1" dirty="0">
                <a:solidFill>
                  <a:srgbClr val="023558"/>
                </a:solidFill>
              </a:rPr>
              <a:t>Name: Smriti Karmakar</a:t>
            </a:r>
          </a:p>
          <a:p>
            <a:r>
              <a:rPr lang="en-US" sz="1400" i="1" dirty="0">
                <a:solidFill>
                  <a:srgbClr val="023558"/>
                </a:solidFill>
              </a:rPr>
              <a:t>Name: </a:t>
            </a:r>
            <a:r>
              <a:rPr lang="en-US" sz="1400" i="1" dirty="0" err="1">
                <a:solidFill>
                  <a:srgbClr val="023558"/>
                </a:solidFill>
              </a:rPr>
              <a:t>Merugu</a:t>
            </a:r>
            <a:r>
              <a:rPr lang="en-US" sz="1400" i="1" dirty="0">
                <a:solidFill>
                  <a:srgbClr val="023558"/>
                </a:solidFill>
              </a:rPr>
              <a:t> Divyasri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0F0B85-2D0B-8CE2-0C62-378937D4A485}"/>
              </a:ext>
            </a:extLst>
          </p:cNvPr>
          <p:cNvSpPr txBox="1"/>
          <p:nvPr/>
        </p:nvSpPr>
        <p:spPr>
          <a:xfrm>
            <a:off x="1487247" y="5874669"/>
            <a:ext cx="504231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 i="1" dirty="0">
                <a:solidFill>
                  <a:srgbClr val="023558"/>
                </a:solidFill>
              </a:rPr>
              <a:t>College: Malla Reddy College of Engineering for Women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1686482-2ABD-404B-4ABA-CEB96E4AB9C1}"/>
              </a:ext>
            </a:extLst>
          </p:cNvPr>
          <p:cNvGrpSpPr/>
          <p:nvPr/>
        </p:nvGrpSpPr>
        <p:grpSpPr>
          <a:xfrm>
            <a:off x="995345" y="1645077"/>
            <a:ext cx="4588472" cy="742352"/>
            <a:chOff x="1283711" y="1438666"/>
            <a:chExt cx="4588472" cy="742352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E615D82-5CB2-52DA-0B05-5FE8B54D042E}"/>
                </a:ext>
              </a:extLst>
            </p:cNvPr>
            <p:cNvSpPr/>
            <p:nvPr/>
          </p:nvSpPr>
          <p:spPr>
            <a:xfrm>
              <a:off x="1283711" y="1438666"/>
              <a:ext cx="4588472" cy="742352"/>
            </a:xfrm>
            <a:prstGeom prst="roundRect">
              <a:avLst/>
            </a:prstGeom>
            <a:solidFill>
              <a:srgbClr val="03497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BCEE186-AA2C-A9BA-A43A-D62A437771F7}"/>
                </a:ext>
              </a:extLst>
            </p:cNvPr>
            <p:cNvSpPr txBox="1"/>
            <p:nvPr/>
          </p:nvSpPr>
          <p:spPr>
            <a:xfrm>
              <a:off x="1441240" y="1609787"/>
              <a:ext cx="4273414" cy="40011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E500"/>
                  </a:solidFill>
                </a:rPr>
                <a:t>Next Gen Employability Program</a:t>
              </a:r>
              <a:endParaRPr lang="en-US" dirty="0">
                <a:solidFill>
                  <a:srgbClr val="FFE500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03A782A-5355-03DB-CA26-A3A3D607DA31}"/>
              </a:ext>
            </a:extLst>
          </p:cNvPr>
          <p:cNvGrpSpPr/>
          <p:nvPr/>
        </p:nvGrpSpPr>
        <p:grpSpPr>
          <a:xfrm>
            <a:off x="1894840" y="1516840"/>
            <a:ext cx="8402320" cy="4033672"/>
            <a:chOff x="2159836" y="1516840"/>
            <a:chExt cx="8402320" cy="403367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C7C8318-501A-300C-1586-3487E06F1253}"/>
                </a:ext>
              </a:extLst>
            </p:cNvPr>
            <p:cNvGrpSpPr/>
            <p:nvPr/>
          </p:nvGrpSpPr>
          <p:grpSpPr>
            <a:xfrm>
              <a:off x="2159836" y="1608432"/>
              <a:ext cx="8402320" cy="3942080"/>
              <a:chOff x="2159836" y="1457960"/>
              <a:chExt cx="8402320" cy="3942080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E88D108B-EC8D-6B85-5F57-F9D19D5681C4}"/>
                  </a:ext>
                </a:extLst>
              </p:cNvPr>
              <p:cNvSpPr/>
              <p:nvPr/>
            </p:nvSpPr>
            <p:spPr>
              <a:xfrm>
                <a:off x="2159836" y="1457960"/>
                <a:ext cx="8402320" cy="3942080"/>
              </a:xfrm>
              <a:prstGeom prst="roundRect">
                <a:avLst>
                  <a:gd name="adj" fmla="val 10997"/>
                </a:avLst>
              </a:prstGeom>
              <a:solidFill>
                <a:srgbClr val="03497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97845F-F959-88CB-A4ED-3AA0360C1A9D}"/>
                  </a:ext>
                </a:extLst>
              </p:cNvPr>
              <p:cNvSpPr txBox="1"/>
              <p:nvPr/>
            </p:nvSpPr>
            <p:spPr>
              <a:xfrm>
                <a:off x="2159836" y="4391210"/>
                <a:ext cx="840232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FFE500"/>
                    </a:solidFill>
                  </a:rPr>
                  <a:t>The content is curated from online/offline resources and used for educational purpose only.</a:t>
                </a:r>
              </a:p>
            </p:txBody>
          </p:sp>
        </p:grpSp>
        <p:pic>
          <p:nvPicPr>
            <p:cNvPr id="8" name="Picture 7" descr="A blue sign with black background&#10;&#10;AI-generated content may be incorrect.">
              <a:extLst>
                <a:ext uri="{FF2B5EF4-FFF2-40B4-BE49-F238E27FC236}">
                  <a16:creationId xmlns:a16="http://schemas.microsoft.com/office/drawing/2014/main" id="{43BB6327-B30A-E013-C8DA-976B9EC35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324" t="20721" r="6756" b="23454"/>
            <a:stretch>
              <a:fillRect/>
            </a:stretch>
          </p:blipFill>
          <p:spPr>
            <a:xfrm>
              <a:off x="2487153" y="1516840"/>
              <a:ext cx="7747686" cy="2899149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987024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yellow line with a black background&#10;&#10;AI-generated content may be incorrect.">
            <a:extLst>
              <a:ext uri="{FF2B5EF4-FFF2-40B4-BE49-F238E27FC236}">
                <a16:creationId xmlns:a16="http://schemas.microsoft.com/office/drawing/2014/main" id="{F314EBF8-9802-CF1D-801E-63C18C2206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820" t="30090" r="9640" b="30270"/>
          <a:stretch>
            <a:fillRect/>
          </a:stretch>
        </p:blipFill>
        <p:spPr>
          <a:xfrm>
            <a:off x="802675" y="1603289"/>
            <a:ext cx="10586649" cy="39078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FEE84B-060E-0646-61C1-61E6884BACC3}"/>
              </a:ext>
            </a:extLst>
          </p:cNvPr>
          <p:cNvSpPr txBox="1"/>
          <p:nvPr/>
        </p:nvSpPr>
        <p:spPr>
          <a:xfrm>
            <a:off x="3167861" y="3251436"/>
            <a:ext cx="691895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solidFill>
                  <a:srgbClr val="D5E3FF"/>
                </a:solidFill>
              </a:rPr>
              <a:t>College Event Management System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7940F8-47B2-3605-4FFD-62224135AD9A}"/>
              </a:ext>
            </a:extLst>
          </p:cNvPr>
          <p:cNvSpPr txBox="1"/>
          <p:nvPr/>
        </p:nvSpPr>
        <p:spPr>
          <a:xfrm>
            <a:off x="5495063" y="2882104"/>
            <a:ext cx="226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D5E3FF"/>
                </a:solidFill>
              </a:rPr>
              <a:t>Project Title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1132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/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000" b="1" dirty="0">
                <a:solidFill>
                  <a:srgbClr val="213163"/>
                </a:solidFill>
              </a:rPr>
              <a:t>Table of Contents</a:t>
            </a:r>
          </a:p>
        </p:txBody>
      </p:sp>
      <p:sp>
        <p:nvSpPr>
          <p:cNvPr id="2" name="Google Shape;62;g5fab984687_2_0">
            <a:extLst>
              <a:ext uri="{FF2B5EF4-FFF2-40B4-BE49-F238E27FC236}">
                <a16:creationId xmlns:a16="http://schemas.microsoft.com/office/drawing/2014/main" id="{07E1EAD1-F835-6956-77CD-17363121C17E}"/>
              </a:ext>
            </a:extLst>
          </p:cNvPr>
          <p:cNvSpPr txBox="1">
            <a:spLocks/>
          </p:cNvSpPr>
          <p:nvPr/>
        </p:nvSpPr>
        <p:spPr>
          <a:xfrm>
            <a:off x="185129" y="1270699"/>
            <a:ext cx="5754564" cy="3042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Introduction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Problem Statement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Solution</a:t>
            </a:r>
            <a:endParaRPr lang="en-US" sz="1800" dirty="0"/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Technologies used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Features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Screenshots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References</a:t>
            </a:r>
            <a:endParaRPr lang="en-US" sz="1800" dirty="0"/>
          </a:p>
        </p:txBody>
      </p:sp>
      <p:pic>
        <p:nvPicPr>
          <p:cNvPr id="3" name="Picture 2" descr="A light bulb with a black background&#10;&#10;Description automatically generated">
            <a:extLst>
              <a:ext uri="{FF2B5EF4-FFF2-40B4-BE49-F238E27FC236}">
                <a16:creationId xmlns:a16="http://schemas.microsoft.com/office/drawing/2014/main" id="{C3BD9B49-6271-C92D-48CE-5039440C29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117" t="5427" r="7295" b="7474"/>
          <a:stretch/>
        </p:blipFill>
        <p:spPr>
          <a:xfrm>
            <a:off x="7112000" y="1092200"/>
            <a:ext cx="4551680" cy="46321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2168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AC29E9A5-5A18-3D3F-AA12-6D0F85017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F89B33F3-C5E8-85C3-39F5-088AC7C20DC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000" b="1" dirty="0">
                <a:solidFill>
                  <a:srgbClr val="213163"/>
                </a:solidFill>
              </a:rPr>
              <a:t>Introduction</a:t>
            </a:r>
          </a:p>
        </p:txBody>
      </p:sp>
      <p:sp>
        <p:nvSpPr>
          <p:cNvPr id="2" name="Google Shape;62;g5fab984687_2_0">
            <a:extLst>
              <a:ext uri="{FF2B5EF4-FFF2-40B4-BE49-F238E27FC236}">
                <a16:creationId xmlns:a16="http://schemas.microsoft.com/office/drawing/2014/main" id="{FC3B25F1-137C-B542-0D5C-99222D5D1BD9}"/>
              </a:ext>
            </a:extLst>
          </p:cNvPr>
          <p:cNvSpPr txBox="1">
            <a:spLocks/>
          </p:cNvSpPr>
          <p:nvPr/>
        </p:nvSpPr>
        <p:spPr>
          <a:xfrm>
            <a:off x="2685734" y="2949482"/>
            <a:ext cx="5754564" cy="3042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800"/>
              </a:spcBef>
              <a:buClr>
                <a:srgbClr val="213163"/>
              </a:buClr>
            </a:pPr>
            <a:r>
              <a:rPr lang="en-US" sz="1800" i="1" dirty="0"/>
              <a:t>            “Modernizing Campus Grievance Redressal”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3595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7817AA3A-9E68-E28F-AD7C-B4FF04939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95CADBAA-B9CC-14EE-41EC-A96EBEB6265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000" b="1" dirty="0">
                <a:solidFill>
                  <a:srgbClr val="213163"/>
                </a:solidFill>
              </a:rPr>
              <a:t>Problem Statement</a:t>
            </a:r>
          </a:p>
        </p:txBody>
      </p:sp>
      <p:sp>
        <p:nvSpPr>
          <p:cNvPr id="2" name="Google Shape;62;g5fab984687_2_0">
            <a:extLst>
              <a:ext uri="{FF2B5EF4-FFF2-40B4-BE49-F238E27FC236}">
                <a16:creationId xmlns:a16="http://schemas.microsoft.com/office/drawing/2014/main" id="{859096E4-0189-7441-76F1-8806DE739D2D}"/>
              </a:ext>
            </a:extLst>
          </p:cNvPr>
          <p:cNvSpPr txBox="1">
            <a:spLocks/>
          </p:cNvSpPr>
          <p:nvPr/>
        </p:nvSpPr>
        <p:spPr>
          <a:xfrm>
            <a:off x="185129" y="1270699"/>
            <a:ext cx="7046096" cy="3730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Manual event management is inefficient.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Difficult to track registrations and attendance.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Lack of centralized platform for updates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4415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DE699C38-FEED-4DE7-F2E9-0229B2D27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527A7515-F180-AEFF-58BC-4EEC88A2D67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000" b="1" dirty="0">
                <a:solidFill>
                  <a:srgbClr val="213163"/>
                </a:solidFill>
              </a:rPr>
              <a:t>Solution</a:t>
            </a:r>
          </a:p>
        </p:txBody>
      </p:sp>
      <p:sp>
        <p:nvSpPr>
          <p:cNvPr id="2" name="Google Shape;62;g5fab984687_2_0">
            <a:extLst>
              <a:ext uri="{FF2B5EF4-FFF2-40B4-BE49-F238E27FC236}">
                <a16:creationId xmlns:a16="http://schemas.microsoft.com/office/drawing/2014/main" id="{EC6C7E63-7C9E-CF44-6383-F1A33A41B92A}"/>
              </a:ext>
            </a:extLst>
          </p:cNvPr>
          <p:cNvSpPr txBox="1">
            <a:spLocks/>
          </p:cNvSpPr>
          <p:nvPr/>
        </p:nvSpPr>
        <p:spPr>
          <a:xfrm>
            <a:off x="185129" y="1270699"/>
            <a:ext cx="7917388" cy="3042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Develop a centralized web application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Enable easy event creation, registration and tracking.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Use QR Codes for attendance and automate certificates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endParaRPr lang="en-US" sz="18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9470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D901FD29-2306-4361-3AA9-FECF47F9B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18D68ECC-991C-63E4-4F3A-CA4410D158C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000" b="1" dirty="0">
                <a:solidFill>
                  <a:srgbClr val="213163"/>
                </a:solidFill>
              </a:rPr>
              <a:t>Technologies Used</a:t>
            </a:r>
          </a:p>
        </p:txBody>
      </p:sp>
      <p:sp>
        <p:nvSpPr>
          <p:cNvPr id="2" name="Google Shape;62;g5fab984687_2_0">
            <a:extLst>
              <a:ext uri="{FF2B5EF4-FFF2-40B4-BE49-F238E27FC236}">
                <a16:creationId xmlns:a16="http://schemas.microsoft.com/office/drawing/2014/main" id="{C4E4334A-A382-A5AB-FC0C-9337642A0DDD}"/>
              </a:ext>
            </a:extLst>
          </p:cNvPr>
          <p:cNvSpPr txBox="1">
            <a:spLocks/>
          </p:cNvSpPr>
          <p:nvPr/>
        </p:nvSpPr>
        <p:spPr>
          <a:xfrm>
            <a:off x="185129" y="1270699"/>
            <a:ext cx="5754564" cy="3042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1. The Core Backend: Python &amp; Django Framework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2. Database: SQLite</a:t>
            </a:r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IN" sz="1800" dirty="0"/>
              <a:t>3. Frontend: HTML5 ,CSS3 &amp; </a:t>
            </a:r>
            <a:r>
              <a:rPr lang="en-IN" sz="1800" dirty="0" err="1"/>
              <a:t>Javascript</a:t>
            </a:r>
            <a:endParaRPr lang="en-IN" sz="1800" dirty="0"/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pic>
        <p:nvPicPr>
          <p:cNvPr id="3" name="Picture 2" descr="A light bulb with a black background&#10;&#10;Description automatically generated">
            <a:extLst>
              <a:ext uri="{FF2B5EF4-FFF2-40B4-BE49-F238E27FC236}">
                <a16:creationId xmlns:a16="http://schemas.microsoft.com/office/drawing/2014/main" id="{DE07D48D-79B7-CE69-130C-7DC9970CFD9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117" t="5427" r="7295" b="7474"/>
          <a:stretch/>
        </p:blipFill>
        <p:spPr>
          <a:xfrm>
            <a:off x="7112000" y="1092200"/>
            <a:ext cx="4551680" cy="46321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91171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E34DA83E-FA8B-8F1F-97F3-4E74370FA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6154E180-C011-6F55-9E91-230145753D7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000" b="1" dirty="0">
                <a:solidFill>
                  <a:srgbClr val="213163"/>
                </a:solidFill>
              </a:rPr>
              <a:t>Features</a:t>
            </a:r>
          </a:p>
        </p:txBody>
      </p:sp>
      <p:sp>
        <p:nvSpPr>
          <p:cNvPr id="2" name="Google Shape;62;g5fab984687_2_0">
            <a:extLst>
              <a:ext uri="{FF2B5EF4-FFF2-40B4-BE49-F238E27FC236}">
                <a16:creationId xmlns:a16="http://schemas.microsoft.com/office/drawing/2014/main" id="{E878781F-C825-56DD-20EC-E621BA7C8D8F}"/>
              </a:ext>
            </a:extLst>
          </p:cNvPr>
          <p:cNvSpPr txBox="1">
            <a:spLocks/>
          </p:cNvSpPr>
          <p:nvPr/>
        </p:nvSpPr>
        <p:spPr>
          <a:xfrm>
            <a:off x="185129" y="1270699"/>
            <a:ext cx="5754564" cy="3042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Multi Role Access </a:t>
            </a:r>
          </a:p>
          <a:p>
            <a:pPr>
              <a:spcBef>
                <a:spcPts val="800"/>
              </a:spcBef>
              <a:buClr>
                <a:srgbClr val="213163"/>
              </a:buClr>
            </a:pPr>
            <a:r>
              <a:rPr lang="en-US" sz="1800" dirty="0"/>
              <a:t>	Student</a:t>
            </a:r>
          </a:p>
          <a:p>
            <a:pPr lvl="2">
              <a:spcBef>
                <a:spcPts val="800"/>
              </a:spcBef>
              <a:buClr>
                <a:srgbClr val="213163"/>
              </a:buClr>
            </a:pPr>
            <a:r>
              <a:rPr lang="en-US" sz="1800" dirty="0"/>
              <a:t>              Organizer</a:t>
            </a:r>
          </a:p>
          <a:p>
            <a:pPr>
              <a:spcBef>
                <a:spcPts val="800"/>
              </a:spcBef>
              <a:buClr>
                <a:srgbClr val="213163"/>
              </a:buClr>
            </a:pPr>
            <a:r>
              <a:rPr lang="en-US" sz="1800" dirty="0"/>
              <a:t>	Admin</a:t>
            </a:r>
          </a:p>
          <a:p>
            <a:pPr>
              <a:spcBef>
                <a:spcPts val="800"/>
              </a:spcBef>
              <a:buClr>
                <a:srgbClr val="213163"/>
              </a:buClr>
            </a:pPr>
            <a:r>
              <a:rPr lang="en-US" sz="1800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5185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7E07011F-8DF9-924B-7107-DC83475A3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65E84B32-8548-2E42-2D87-C114A5289F5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IN" sz="2000" b="1" dirty="0">
                <a:solidFill>
                  <a:srgbClr val="213163"/>
                </a:solidFill>
              </a:rPr>
              <a:t>Screenshots</a:t>
            </a:r>
          </a:p>
        </p:txBody>
      </p:sp>
      <p:sp>
        <p:nvSpPr>
          <p:cNvPr id="2" name="Google Shape;62;g5fab984687_2_0">
            <a:extLst>
              <a:ext uri="{FF2B5EF4-FFF2-40B4-BE49-F238E27FC236}">
                <a16:creationId xmlns:a16="http://schemas.microsoft.com/office/drawing/2014/main" id="{39205FEA-FE45-D56D-DE39-467041C8CEC5}"/>
              </a:ext>
            </a:extLst>
          </p:cNvPr>
          <p:cNvSpPr txBox="1">
            <a:spLocks/>
          </p:cNvSpPr>
          <p:nvPr/>
        </p:nvSpPr>
        <p:spPr>
          <a:xfrm>
            <a:off x="185129" y="1270699"/>
            <a:ext cx="5754564" cy="3042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31642" indent="-231642">
              <a:spcBef>
                <a:spcPts val="800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pic>
        <p:nvPicPr>
          <p:cNvPr id="3" name="Picture 2" descr="A light bulb with a black background&#10;&#10;Description automatically generated">
            <a:extLst>
              <a:ext uri="{FF2B5EF4-FFF2-40B4-BE49-F238E27FC236}">
                <a16:creationId xmlns:a16="http://schemas.microsoft.com/office/drawing/2014/main" id="{B5509EF6-0A72-7F9F-C21B-2952C3D612A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117" t="5427" r="7295" b="7474"/>
          <a:stretch/>
        </p:blipFill>
        <p:spPr>
          <a:xfrm>
            <a:off x="7112000" y="1092200"/>
            <a:ext cx="4551680" cy="46321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2961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0E0CFA53-CCA4-D4E2-FCC5-6726C9696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5fab984687_2_0">
            <a:extLst>
              <a:ext uri="{FF2B5EF4-FFF2-40B4-BE49-F238E27FC236}">
                <a16:creationId xmlns:a16="http://schemas.microsoft.com/office/drawing/2014/main" id="{6696FB24-3D2E-A463-EE53-51916115403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4709" y="865963"/>
            <a:ext cx="3914776" cy="42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-US" sz="2000" b="1" dirty="0">
                <a:solidFill>
                  <a:srgbClr val="213163"/>
                </a:solidFill>
              </a:rPr>
              <a:t>R</a:t>
            </a:r>
            <a:r>
              <a:rPr lang="en-IN" sz="2000" b="1" dirty="0" err="1">
                <a:solidFill>
                  <a:srgbClr val="213163"/>
                </a:solidFill>
              </a:rPr>
              <a:t>eferences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Google Shape;62;g5fab984687_2_0">
            <a:extLst>
              <a:ext uri="{FF2B5EF4-FFF2-40B4-BE49-F238E27FC236}">
                <a16:creationId xmlns:a16="http://schemas.microsoft.com/office/drawing/2014/main" id="{07E1EAD1-F835-6956-77CD-17363121C17E}"/>
              </a:ext>
            </a:extLst>
          </p:cNvPr>
          <p:cNvSpPr txBox="1">
            <a:spLocks/>
          </p:cNvSpPr>
          <p:nvPr/>
        </p:nvSpPr>
        <p:spPr>
          <a:xfrm>
            <a:off x="266686" y="1295647"/>
            <a:ext cx="8898173" cy="5053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31134" indent="-231134">
              <a:lnSpc>
                <a:spcPct val="200000"/>
              </a:lnSpc>
              <a:spcBef>
                <a:spcPts val="267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hlinkClick r:id="rId4"/>
              </a:rPr>
              <a:t>https://nodejs.org/api/net.html</a:t>
            </a:r>
          </a:p>
          <a:p>
            <a:pPr marL="231134" indent="-231134">
              <a:lnSpc>
                <a:spcPct val="200000"/>
              </a:lnSpc>
              <a:spcBef>
                <a:spcPts val="267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hlinkClick r:id="rId5"/>
              </a:rPr>
              <a:t>https://docs.djangoproject.com/en/6.0/</a:t>
            </a:r>
            <a:endParaRPr lang="en-US" sz="1867" dirty="0"/>
          </a:p>
          <a:p>
            <a:pPr marL="231134" indent="-231134">
              <a:lnSpc>
                <a:spcPct val="200000"/>
              </a:lnSpc>
              <a:spcBef>
                <a:spcPts val="267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hlinkClick r:id="rId6"/>
              </a:rPr>
              <a:t>https://www.python.org/</a:t>
            </a:r>
            <a:endParaRPr lang="en-US" sz="1867" dirty="0"/>
          </a:p>
          <a:p>
            <a:pPr marL="231134" indent="-231134">
              <a:lnSpc>
                <a:spcPct val="200000"/>
              </a:lnSpc>
              <a:spcBef>
                <a:spcPts val="267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hlinkClick r:id="rId7"/>
              </a:rPr>
              <a:t>https://antigravity.google/</a:t>
            </a:r>
            <a:endParaRPr lang="en-US" sz="1867" dirty="0"/>
          </a:p>
          <a:p>
            <a:pPr marL="231134" indent="-231134">
              <a:lnSpc>
                <a:spcPct val="200000"/>
              </a:lnSpc>
              <a:spcBef>
                <a:spcPts val="267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r>
              <a:rPr lang="en-US" sz="1867" dirty="0">
                <a:hlinkClick r:id="rId8"/>
              </a:rPr>
              <a:t>https://chatgpt.google.com/</a:t>
            </a:r>
            <a:endParaRPr lang="en-US" sz="1867" dirty="0"/>
          </a:p>
          <a:p>
            <a:pPr marL="231134" indent="-231134">
              <a:lnSpc>
                <a:spcPct val="200000"/>
              </a:lnSpc>
              <a:spcBef>
                <a:spcPts val="267"/>
              </a:spcBef>
              <a:buClr>
                <a:srgbClr val="213163"/>
              </a:buClr>
              <a:buFont typeface="Arial" panose="020B0604020202020204" pitchFamily="34" charset="0"/>
              <a:buChar char="•"/>
            </a:pPr>
            <a:endParaRPr lang="en-US" sz="1867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74974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4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6559A34-456E-49A1-8157-9E3D18BFAD36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</TotalTime>
  <Words>1228</Words>
  <Application>Microsoft Office PowerPoint</Application>
  <PresentationFormat>Widescreen</PresentationFormat>
  <Paragraphs>269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 Narrow</vt:lpstr>
      <vt:lpstr>Arial</vt:lpstr>
      <vt:lpstr>Calibri</vt:lpstr>
      <vt:lpstr>Times New Roman</vt:lpstr>
      <vt:lpstr>Simple Light</vt:lpstr>
      <vt:lpstr>PowerPoint Presentation</vt:lpstr>
      <vt:lpstr>PowerPoint Presentation</vt:lpstr>
      <vt:lpstr>PowerPoint Presentation</vt:lpstr>
      <vt:lpstr>Table of Contents</vt:lpstr>
      <vt:lpstr>Introduction</vt:lpstr>
      <vt:lpstr>Problem Statement</vt:lpstr>
      <vt:lpstr>Solution</vt:lpstr>
      <vt:lpstr>Technologies Used</vt:lpstr>
      <vt:lpstr>Features</vt:lpstr>
      <vt:lpstr>Screenshots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Helvin Mg</dc:creator>
  <cp:lastModifiedBy>Konatham Manasa</cp:lastModifiedBy>
  <cp:revision>30</cp:revision>
  <dcterms:modified xsi:type="dcterms:W3CDTF">2026-04-29T09:47:23Z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  <property fmtid="{D5CDD505-2E9C-101B-9397-08002B2CF9AE}" pid="3" name="ArticulateGUID">
    <vt:lpwstr>ADA14AB9-6E05-4AF1-84FB-ACE67E38F4B9</vt:lpwstr>
  </property>
  <property fmtid="{D5CDD505-2E9C-101B-9397-08002B2CF9AE}" pid="4" name="ArticulatePath">
    <vt:lpwstr>https://edunetfoundationorg-my.sharepoint.com/personal/kaisar_edunetfoundation_org/Documents/Beutified ppt/EY/Student showcase 2025/Master Class 2 - UI_UX Design Principles</vt:lpwstr>
  </property>
</Properties>
</file>